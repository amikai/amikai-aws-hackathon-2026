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322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3229"/>
                </a:solidFill>
                <a:latin typeface="Arial"/>
              </a:rPr>
              <a:t>0050 元大台灣50 · 2025年4月每日收盤價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0050 收盤價（元）</c:v>
                </c:pt>
              </c:strCache>
            </c:strRef>
          </c:tx>
          <c:spPr>
            <a:solidFill>
              <a:srgbClr val="45604F"/>
            </a:solidFill>
            <a:ln w="28575" cap="flat">
              <a:solidFill>
                <a:srgbClr val="4560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45604F"/>
              </a:solidFill>
              <a:ln w="9525" cap="flat">
                <a:solidFill>
                  <a:srgbClr val="4560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4/1</c:v>
                  </c:pt>
                  <c:pt idx="1">
                    <c:v>4/2</c:v>
                  </c:pt>
                  <c:pt idx="2">
                    <c:v>4/7</c:v>
                  </c:pt>
                  <c:pt idx="3">
                    <c:v>4/8</c:v>
                  </c:pt>
                  <c:pt idx="4">
                    <c:v>4/9</c:v>
                  </c:pt>
                  <c:pt idx="5">
                    <c:v>4/10</c:v>
                  </c:pt>
                  <c:pt idx="6">
                    <c:v>4/11</c:v>
                  </c:pt>
                  <c:pt idx="7">
                    <c:v>4/14</c:v>
                  </c:pt>
                  <c:pt idx="8">
                    <c:v>4/15</c:v>
                  </c:pt>
                  <c:pt idx="9">
                    <c:v>4/16</c:v>
                  </c:pt>
                  <c:pt idx="10">
                    <c:v>4/17</c:v>
                  </c:pt>
                  <c:pt idx="11">
                    <c:v>4/18</c:v>
                  </c:pt>
                  <c:pt idx="12">
                    <c:v>4/21</c:v>
                  </c:pt>
                  <c:pt idx="13">
                    <c:v>4/22</c:v>
                  </c:pt>
                  <c:pt idx="14">
                    <c:v>4/23</c:v>
                  </c:pt>
                  <c:pt idx="15">
                    <c:v>4/24</c:v>
                  </c:pt>
                  <c:pt idx="16">
                    <c:v>4/25</c:v>
                  </c:pt>
                  <c:pt idx="17">
                    <c:v>4/28</c:v>
                  </c:pt>
                  <c:pt idx="18">
                    <c:v>4/29</c:v>
                  </c:pt>
                  <c:pt idx="19">
                    <c:v>4/30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176.3</c:v>
                </c:pt>
                <c:pt idx="1">
                  <c:v>176</c:v>
                </c:pt>
                <c:pt idx="2">
                  <c:v>158.4</c:v>
                </c:pt>
                <c:pt idx="3">
                  <c:v>153.25</c:v>
                </c:pt>
                <c:pt idx="4">
                  <c:v>146.2</c:v>
                </c:pt>
                <c:pt idx="5">
                  <c:v>160.8</c:v>
                </c:pt>
                <c:pt idx="6">
                  <c:v>164.55</c:v>
                </c:pt>
                <c:pt idx="7">
                  <c:v>163.7</c:v>
                </c:pt>
                <c:pt idx="8">
                  <c:v>165.35</c:v>
                </c:pt>
                <c:pt idx="9">
                  <c:v>162.35</c:v>
                </c:pt>
                <c:pt idx="10">
                  <c:v>160.55</c:v>
                </c:pt>
                <c:pt idx="11">
                  <c:v>160.9</c:v>
                </c:pt>
                <c:pt idx="12">
                  <c:v>158.6</c:v>
                </c:pt>
                <c:pt idx="13">
                  <c:v>155.95</c:v>
                </c:pt>
                <c:pt idx="14">
                  <c:v>162.85</c:v>
                </c:pt>
                <c:pt idx="15">
                  <c:v>161.9</c:v>
                </c:pt>
                <c:pt idx="16">
                  <c:v>165.75</c:v>
                </c:pt>
                <c:pt idx="17">
                  <c:v>167.15</c:v>
                </c:pt>
                <c:pt idx="18">
                  <c:v>167.8</c:v>
                </c:pt>
                <c:pt idx="19">
                  <c:v>168.6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急跌週</c:v>
                </c:pt>
              </c:strCache>
            </c:strRef>
          </c:tx>
          <c:spPr>
            <a:solidFill>
              <a:srgbClr val="BD6B5D"/>
            </a:solidFill>
            <a:ln w="28575" cap="flat">
              <a:solidFill>
                <a:srgbClr val="BD6B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D6B5D"/>
              </a:solidFill>
              <a:ln w="9525" cap="flat">
                <a:solidFill>
                  <a:srgbClr val="BD6B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4/1</c:v>
                  </c:pt>
                  <c:pt idx="1">
                    <c:v>4/2</c:v>
                  </c:pt>
                  <c:pt idx="2">
                    <c:v>4/7</c:v>
                  </c:pt>
                  <c:pt idx="3">
                    <c:v>4/8</c:v>
                  </c:pt>
                  <c:pt idx="4">
                    <c:v>4/9</c:v>
                  </c:pt>
                  <c:pt idx="5">
                    <c:v>4/10</c:v>
                  </c:pt>
                  <c:pt idx="6">
                    <c:v>4/11</c:v>
                  </c:pt>
                  <c:pt idx="7">
                    <c:v>4/14</c:v>
                  </c:pt>
                  <c:pt idx="8">
                    <c:v>4/15</c:v>
                  </c:pt>
                  <c:pt idx="9">
                    <c:v>4/16</c:v>
                  </c:pt>
                  <c:pt idx="10">
                    <c:v>4/17</c:v>
                  </c:pt>
                  <c:pt idx="11">
                    <c:v>4/18</c:v>
                  </c:pt>
                  <c:pt idx="12">
                    <c:v>4/21</c:v>
                  </c:pt>
                  <c:pt idx="13">
                    <c:v>4/22</c:v>
                  </c:pt>
                  <c:pt idx="14">
                    <c:v>4/23</c:v>
                  </c:pt>
                  <c:pt idx="15">
                    <c:v>4/24</c:v>
                  </c:pt>
                  <c:pt idx="16">
                    <c:v>4/25</c:v>
                  </c:pt>
                  <c:pt idx="17">
                    <c:v>4/28</c:v>
                  </c:pt>
                  <c:pt idx="18">
                    <c:v>4/29</c:v>
                  </c:pt>
                  <c:pt idx="19">
                    <c:v>4/30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/>
                </c:pt>
                <c:pt idx="1">
                  <c:v>176</c:v>
                </c:pt>
                <c:pt idx="2">
                  <c:v>158.4</c:v>
                </c:pt>
                <c:pt idx="3">
                  <c:v>153.25</c:v>
                </c:pt>
                <c:pt idx="4">
                  <c:v>146.2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E2DA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140"/>
        </c:scaling>
        <c:delete val="0"/>
        <c:axPos val="l"/>
        <c:majorGridlines>
          <c:spPr>
            <a:ln w="9525" cap="flat">
              <a:solidFill>
                <a:srgbClr val="D8E2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6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62"/>
                    </a:solidFill>
                    <a:latin typeface="Arial"/>
                  </a:rPr>
                  <a:t>收盤價（元）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開場：一句話定位產品——市場每天都在變，但使用者不用一個人面對。股伴是資料驅動的陪伴電子寵物，不是預測明牌的工具。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開場先用真實數字定錨 TA：0050 與 VOO 這兩年報酬都很亮眼，長期向上是事實。但真正的問題不是要不要買大盤，而是新手能不能扛住過程中的波動——這正是股伴要陪伴解決的部分。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用真實 TWSE 資料畫出 2025年4月0050的走勢：4/2收176.0，四個交易日後4/9收146.2，一週跌16.9%，隨後兩週內震盪回升。重點不是教育使用者這是正常波動，而是承認：知道長期會漲跟撐得住那七天,是兩件事——紀律的核心其實是情緒調節，不是知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三個場景都很真實：下跌焦慮、大漲追高、雜訊過多。這是我們設計股伴要解決的問題，而不是給更多即時訊號。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這頁講產品真正的機制靈感：不是給更多籌碼K線或即時數據，而是像 Word 迴紋針、Chrome 離線恐龍那樣，在使用者最容易鑽牛角尖的時刻，用陪伴溫柔地打斷、分散注意力。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這是整份提案唯一要記住的一句話。後面所有設計都是為了實現這句話。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這頁講美術方向的情感目標：不是做得多寫實或多複雜，而是做出盲盒公仔、精品小物那種『小巧到讓人想收藏、想摸一下』的手感，讓股伴的房間本身就有被珍視的價值。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先劃出邊界：股伴不做什麼，再說它是什麼。這張投影片用來對齊評審對「電子寵物」的既定印象。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四個具體場景示範資料如何轉成無威脅感的環境變化，而不是紅綠警示。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先收斂 TA：不是所有投資人，而是已經懂長期分散、但容易被雜訊影響的 ETF 定期投資新手。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資料到隱喻的完整對照表，展示產品世界觀的一致性——所有物件都由真實資料驅動。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這組數字是 Demo 唯一使用的資料集，同時展示我們對資料的誠實態度：聲量增加不等於一致看法。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Hackathon 前一天決定捨棄 3D 灰盒，改用 2D 插畫換取更高的質感天花板與更穩定的台上呈現。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這是唯一一條完整的 Demo 主線，90–180 秒可在台上走完，也是 primary-user-journey 文件的核心。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誠實說明取捨：這是時間與風險驅動的美術與技術決策，而不是能力限制的藉口。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澄清 AI 的角色邊界：事件計算、原始數字、動畫與買賣決策皆由確定性程式控制，LLM 只負責翻譯與整理。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清楚的減法：第一版只驗證「資料能否變成有意義的陪伴互動」。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語言指南是股伴人格的具體落地：不責怪、不催促、不用損益評價使用者。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前兩項已在 Demo 前完成；接下來的重點是語言指南、事件導演規則與可用性測試。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結尾回到最核心的一句話。留時間給評審提問，可準備法人大腳印互動的即時操作備用。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laughing-ptolemy/mnt/outputs/deck/assets/tea-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1B2821">
              <a:alpha val="2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943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模擬市場 · 現在是 2025/12/31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965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StockMate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市場每天都在變，但你不用一個人面對。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股伴每天陪你看懂一件事。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2194560" cy="0"/>
          </a:xfrm>
          <a:prstGeom prst="line">
            <a:avLst/>
          </a:prstGeom>
          <a:noFill/>
          <a:ln w="19050">
            <a:solidFill>
              <a:srgbClr val="4560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578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Hackathon  ×  CMoney 資料黑客松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提案人／Amikai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目標受眾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我的 TA：剛入門的定期定額散戶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他們買的不是明牌，而是大盤本身——最常見的就是 0050 與 VOO 這類指數 ETF。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2435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0050 元大台灣 50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877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+148.3%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近一年報酬（年化）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25877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+61.7%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近兩年報酬（年化）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資料來源：Yahoo 股市，基準日 2026/06/03，依淨值計算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EAF0E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67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VOO Vanguard S&amp;P 500 ETF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258775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3264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近一年總報酬（含股息）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03920" y="258775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56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+37.7%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0392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近兩年總報酬（含股息）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資料來源：totalrealreturns.com，基準日 2026/07/14；歷史最大回檔 −34%（2020）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我們都知道經濟長期向上成長，長期持有大盤，機率上是會漲的。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D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但過程中的劇烈波動，你真的承受得住嗎？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EAF0E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59552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紀律的長期投資者最不需要天天看盤；但市場一震盪，幾乎沒有人忍得住不看——因為那是自己的辛苦錢，很難不在乎。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紀律的真相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紀律聽起來是理性問題，其實是感性問題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數字很好懂——難的是那幾天，你真的能不多看一眼、不多想一秒嗎？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92024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24352C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0848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D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-16.9%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0956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 → 4/9，短短一週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09560" y="31821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176.0 元 → 146.2 元，同一週 4/9 當天再跌 4.6%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384048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EAF0EA"/>
          </a:solidFill>
          <a:ln/>
        </p:spPr>
      </p:sp>
      <p:sp>
        <p:nvSpPr>
          <p:cNvPr id="11" name="Text 8"/>
          <p:cNvSpPr/>
          <p:nvPr/>
        </p:nvSpPr>
        <p:spPr>
          <a:xfrm>
            <a:off x="7882128" y="4023360"/>
            <a:ext cx="34381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帳上數字每天都在跳動的那七天，情緒的反應速度比任何計算都快。真正考驗紀律的，從來不是懂不懂長期投資，而是撐不撐得過那幾天的心情。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問題與洞察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大盤 ETF 定期投資新手的兩難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使用者已經懂「長期、分散、定期投入」，卻仍容易被短期雜訊帶走計畫。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6E8F7C"/>
          </a:solidFill>
          <a:ln/>
        </p:spPr>
      </p:sp>
      <p:pic>
        <p:nvPicPr>
          <p:cNvPr id="6" name="Image 0" descr="/sessions/clever-laughing-ptolemy/mnt/outputs/deck/assets/icons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10" y="222821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214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市場下跌時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60520" y="212140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想暫停投入，愈看愈猶豫，甚至提前停損停扣。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rgbClr val="6E8F7C"/>
          </a:solidFill>
          <a:ln/>
        </p:spPr>
      </p:sp>
      <p:pic>
        <p:nvPicPr>
          <p:cNvPr id="10" name="Image 1" descr="/sessions/clever-laughing-ptolemy/mnt/outputs/deck/assets/icons/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0" y="3554090"/>
            <a:ext cx="408188" cy="4081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4472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市場大漲時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160520" y="344728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害怕錯過，臨時追高，偏離原本的投入計畫。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6E8F7C"/>
          </a:solidFill>
          <a:ln/>
        </p:spPr>
      </p:sp>
      <p:pic>
        <p:nvPicPr>
          <p:cNvPr id="14" name="Image 2" descr="/sessions/clever-laughing-ptolemy/mnt/outputs/deck/assets/icons/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0" y="4879970"/>
            <a:ext cx="408188" cy="4081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73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社群與法人每天都很吵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160520" y="477316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論壇情緒、法人買賣超天天在製造雜訊，卻不代表趨勢。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6172200"/>
            <a:ext cx="10515600" cy="18288"/>
          </a:xfrm>
          <a:prstGeom prst="roundRect">
            <a:avLst/>
          </a:prstGeom>
          <a:solidFill>
            <a:srgbClr val="D8E2DA"/>
          </a:solidFill>
          <a:ln/>
        </p:spPr>
      </p:sp>
      <p:sp>
        <p:nvSpPr>
          <p:cNvPr id="18" name="Text 13"/>
          <p:cNvSpPr/>
          <p:nvPr/>
        </p:nvSpPr>
        <p:spPr>
          <a:xfrm>
            <a:off x="54864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核心問題：如何讓使用者在重要時刻回來，而不是每天盯盤？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產品目的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我們想做的，其實是讓使用者分心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當使用者忍不住反覆打開籌碼 K 線，他缺的不是更多即時數據，而是一個能被溫柔打斷的理由。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BD6B5D"/>
          </a:solidFill>
          <a:ln/>
        </p:spPr>
      </p:sp>
      <p:pic>
        <p:nvPicPr>
          <p:cNvPr id="6" name="Image 0" descr="/sessions/clever-laughing-ptolemy/mnt/outputs/deck/assets/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05813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頻繁打開籌碼 K 線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23160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E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063240" y="1965960"/>
            <a:ext cx="658368" cy="658368"/>
          </a:xfrm>
          <a:prstGeom prst="ellipse">
            <a:avLst/>
          </a:prstGeom>
          <a:solidFill>
            <a:srgbClr val="A97D3F"/>
          </a:solidFill>
          <a:ln/>
        </p:spPr>
      </p:sp>
      <p:pic>
        <p:nvPicPr>
          <p:cNvPr id="10" name="Image 1" descr="/sessions/clever-laughing-ptolemy/mnt/outputs/deck/assets/icons/p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412" y="2058132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股伴主動介入陪伴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343400" y="2075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E2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983480" y="1965960"/>
            <a:ext cx="658368" cy="65836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4" name="Image 2" descr="/sessions/clever-laughing-ptolemy/mnt/outputs/deck/assets/icons/eyes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652" y="2058132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6974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先不看盤，緩一緩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5074920" cy="2331720"/>
          </a:xfrm>
          <a:prstGeom prst="roundRect">
            <a:avLst>
              <a:gd name="adj" fmla="val 4706"/>
            </a:avLst>
          </a:prstGeom>
          <a:solidFill>
            <a:srgbClr val="EAF0EA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36301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迴紋針 Clippit · Microsoft Office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2327575" y="4032504"/>
            <a:ext cx="1517051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pic>
        <p:nvPicPr>
          <p:cNvPr id="19" name="Image 3" descr="/sessions/clever-laughing-ptolemy/mnt/outputs/deck/assets/refs/clippit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439" y="4087368"/>
            <a:ext cx="1407323" cy="9326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5212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在使用者最專注緊張的時刻主動現身，把工作焦慮暫時轉成一次被陪伴的打斷。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06440" y="3429000"/>
            <a:ext cx="5074920" cy="2331720"/>
          </a:xfrm>
          <a:prstGeom prst="roundRect">
            <a:avLst>
              <a:gd name="adj" fmla="val 4706"/>
            </a:avLst>
          </a:prstGeom>
          <a:solidFill>
            <a:srgbClr val="EAF0EA"/>
          </a:solidFill>
          <a:ln/>
        </p:spPr>
      </p:sp>
      <p:sp>
        <p:nvSpPr>
          <p:cNvPr id="22" name="Text 16"/>
          <p:cNvSpPr/>
          <p:nvPr/>
        </p:nvSpPr>
        <p:spPr>
          <a:xfrm>
            <a:off x="6126480" y="363016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離線小恐龍 · Google Chrome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7360158" y="4069080"/>
            <a:ext cx="1967484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</p:sp>
      <p:pic>
        <p:nvPicPr>
          <p:cNvPr id="24" name="Image 4" descr="/sessions/clever-laughing-ptolemy/mnt/outputs/deck/assets/refs/chrome_404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022" y="4123944"/>
            <a:ext cx="1857756" cy="8412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26480" y="52120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把斷線的挫折感，轉成一場可以玩的小遊戲，讓等待本身不再難受。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48640" y="5989320"/>
            <a:ext cx="10332720" cy="548640"/>
          </a:xfrm>
          <a:prstGeom prst="roundRect">
            <a:avLst>
              <a:gd name="adj" fmla="val 16667"/>
            </a:avLst>
          </a:prstGeom>
          <a:solidFill>
            <a:srgbClr val="24352C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59893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股伴要做的事：在使用者又想打開籌碼 K 線的那一刻，先把他接住，而不是給他更多盤面。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560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A97D3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核心命題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6E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市場每天都在變，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但你不用一個人面對。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股伴每天陪你看懂一件事。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我們把一整年的市場資料，變成一個會呼吸的房間：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法人留下腳印、社群成為聲音、價格改變天氣；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使用者每天陪股伴探索一個事件，並共同留下觀察記憶。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美術與體驗方向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做一個讓人想伸手摸一下的精緻小世界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你是否也曾在櫃子裡看到某個公仔或精品小物，小巧到讓人捨不得移開視線，甚至想摸摸看？我們想把這種手感放進股伴的房間。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AF0EA"/>
          </a:solidFill>
          <a:ln/>
        </p:spPr>
      </p:sp>
      <p:sp>
        <p:nvSpPr>
          <p:cNvPr id="6" name="Shape 4"/>
          <p:cNvSpPr/>
          <p:nvPr/>
        </p:nvSpPr>
        <p:spPr>
          <a:xfrm>
            <a:off x="1947672" y="242316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7" name="Image 0" descr="/sessions/clever-laughing-ptolemy/mnt/outputs/deck/assets/icons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52557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盲盒公仔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小小一隻卻捨不得放下，忍不住想收藏、想排在一起。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21488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AF0EA"/>
          </a:solidFill>
          <a:ln/>
        </p:spPr>
      </p:sp>
      <p:sp>
        <p:nvSpPr>
          <p:cNvPr id="11" name="Shape 8"/>
          <p:cNvSpPr/>
          <p:nvPr/>
        </p:nvSpPr>
        <p:spPr>
          <a:xfrm>
            <a:off x="5650992" y="242316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2" name="Image 1" descr="/sessions/clever-laughing-ptolemy/mnt/outputs/deck/assets/icons/g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5" y="252557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精品小物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2628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包裝與細節都被精雕細琢，光用看的就覺得值得擁有。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EAF0EA"/>
          </a:solidFill>
          <a:ln/>
        </p:spPr>
      </p:sp>
      <p:sp>
        <p:nvSpPr>
          <p:cNvPr id="16" name="Shape 12"/>
          <p:cNvSpPr/>
          <p:nvPr/>
        </p:nvSpPr>
        <p:spPr>
          <a:xfrm>
            <a:off x="9354312" y="242316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7" name="Image 2" descr="/sessions/clever-laughing-ptolemy/mnt/outputs/deck/assets/icons/hand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252557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掌心小世界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0" y="37490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把一個完整場景縮進掌心大小，讓人想一直盯著看、動一下看看。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4406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4352C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44068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股伴的小屋要做到這種手感：即使只是螢幕裡的一個房間，也要讓使用者捨不得移開視線，想每天回來看一眼、動一下裡面的小東西。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產品定義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股伴不是裝飾，是有生命的陪伴感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不是在股票 Dashboard 旁邊放一隻會動的吉祥物。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BF4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D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股伴不是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預測漲跌的投資聖杯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即時行情看板或交易建議引擎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用損益評分、會因虧錢而生病的寵物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06577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需要打字提問的聊天機器人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20574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EAF0E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331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6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股伴是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172200" y="29260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有狀態：隨市場事件與互動改變表現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363931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有記憶：記得使用者關注過什麼、做過什麼選擇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352544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有事件、有回應：每天一件新的環境變化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5065776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有成長：因持續觀察與陪伴而成長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設計原則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市場決定天氣，陪伴決定成長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損益與照顧責任不能錯誤綁定：股伴不因為使用者虧錢而生病。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AF0E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7" name="Image 0" descr="/sessions/clever-laughing-ptolemy/mnt/outputs/deck/assets/icons/umbrel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531974"/>
            <a:ext cx="559613" cy="5596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市場下跌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27706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股伴撐起雨傘，不是生病或難過。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AF0EA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2423160"/>
            <a:ext cx="777240" cy="77724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2" name="Image 1" descr="/sessions/clever-laughing-ptolemy/mnt/outputs/deck/assets/icons/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734" y="253197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波動變大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78040" y="27706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房間颳風、窗簾搖晃，但有上限、不失控。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AF0E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7" name="Image 2" descr="/sessions/clever-laughing-ptolemy/mnt/outputs/deck/assets/icons/rad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360774"/>
            <a:ext cx="559613" cy="5596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233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討論爆量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783080" y="45994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股伴戴上耳罩，提醒聲量本身不是答案。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0" y="39776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AF0EA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0" y="4251960"/>
            <a:ext cx="777240" cy="77724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22" name="Image 3" descr="/sessions/clever-laughing-ptolemy/mnt/outputs/deck/asse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34" y="4360774"/>
            <a:ext cx="559613" cy="55961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233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法人與社群分歧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78040" y="45994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股伴換上偵探服，陪使用者一起找線索。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806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股伴不因使用者賺錢而長大；因為使用者願意理解市場、記錄感受並持續陪伴而長大。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目標使用者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小安：大盤 ETF 定期投資新手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663440"/>
          </a:xfrm>
          <a:prstGeom prst="roundRect">
            <a:avLst>
              <a:gd name="adj" fmla="val 2609"/>
            </a:avLst>
          </a:prstGeom>
          <a:solidFill>
            <a:srgbClr val="24352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6" name="Image 0" descr="/sessions/clever-laughing-ptolemy/mnt/outputs/deck/asse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0162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小安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91640" y="2450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Persona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投資經驗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5740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93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57400" y="3593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0050 元大台灣 50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21538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057400" y="42153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 6 日投入 5,000 元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83717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57400" y="48371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十年以上長期累積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54589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困擾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57400" y="5458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下跌想暫停，大漲想追高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74920" y="16916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核心使用時刻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074920" y="2240280"/>
            <a:ext cx="5852160" cy="1554480"/>
          </a:xfrm>
          <a:prstGeom prst="roundRect">
            <a:avLst>
              <a:gd name="adj" fmla="val 5882"/>
            </a:avLst>
          </a:prstGeom>
          <a:solidFill>
            <a:srgbClr val="EAF0EA"/>
          </a:solidFill>
          <a:ln/>
        </p:spPr>
      </p:sp>
      <p:sp>
        <p:nvSpPr>
          <p:cNvPr id="21" name="Text 18"/>
          <p:cNvSpPr/>
          <p:nvPr/>
        </p:nvSpPr>
        <p:spPr>
          <a:xfrm>
            <a:off x="5394960" y="2450592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6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使用者準備做出與原計畫不同的決定時，回來找股伴。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74920" y="4023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典型情境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74920" y="43891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小安原本每月 6 日投入 0050，但市場連續下跌、論壇看空聲量增加後，他在投入日前突然想停止下個月投入。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74920" y="54406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BD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好的黏著性 ≠ 每天盯盤：而是重要時刻願意回來找股伴。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資料世界觀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資料不是圖表，是這個世界的物理規則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6" name="Image 0" descr="/sessions/clever-laughing-ptolemy/mnt/outputs/deck/assets/icons/foot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723" y="2309043"/>
            <a:ext cx="447690" cy="4476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26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法人買賣超 / 連續性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門口大腳印，深淺與路徑長度代表力道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10" name="Shape 7"/>
          <p:cNvSpPr/>
          <p:nvPr/>
        </p:nvSpPr>
        <p:spPr>
          <a:xfrm>
            <a:off x="4507992" y="22219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1" name="Image 1" descr="/sessions/clever-laughing-ptolemy/mnt/outputs/deck/assets/icons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043" y="2309043"/>
            <a:ext cx="447690" cy="4476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926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論壇發文量 / 多空情緒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07992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收音機聲量與頻道，聲音≠立場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1312" y="22219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6" name="Image 2" descr="/sessions/clever-laughing-ptolemy/mnt/outputs/deck/assets/icons/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363" y="2309043"/>
            <a:ext cx="447690" cy="4476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926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股價漲跌與波動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11312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窗外天氣，暖燈不隨損益轉紅綠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0507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21" name="Image 3" descr="/sessions/clever-laughing-ptolemy/mnt/outputs/deck/assets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23" y="4137843"/>
            <a:ext cx="447690" cy="4476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年度高低點 / 年線乖離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04672" y="5093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牆上路線圖與被拉長的繩索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5196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07992" y="40507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26" name="Image 4" descr="/sessions/clever-laughing-ptolemy/mnt/outputs/deck/assets/icons/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043" y="4137843"/>
            <a:ext cx="447690" cy="4476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現金股利 / 連續配息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07992" y="5093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花園果樹，果實與樹根是否平衡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EAF0EA"/>
          </a:solidFill>
          <a:ln/>
        </p:spPr>
      </p:sp>
      <p:sp>
        <p:nvSpPr>
          <p:cNvPr id="30" name="Shape 23"/>
          <p:cNvSpPr/>
          <p:nvPr/>
        </p:nvSpPr>
        <p:spPr>
          <a:xfrm>
            <a:off x="8211312" y="4050792"/>
            <a:ext cx="621792" cy="621792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31" name="Image 5" descr="/sessions/clever-laughing-ptolemy/mnt/outputs/deck/assets/icons/rou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363" y="4137843"/>
            <a:ext cx="447690" cy="4476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47548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使用者買賣紀錄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11312" y="50932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自己的小腳印，沿原定路線前進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情境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2025/04/09 · 0050 元大台灣 50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Demo 內容來自單一真實靜態資料，不做未來資料洩漏。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146.2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收盤價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3042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-4.6%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當日跌幅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3042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95528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近一週報酬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330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日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法人連續賣超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39319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41330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42,059 張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25196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法人合計賣超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39319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B2821"/>
          </a:solidFill>
          <a:ln w="9525">
            <a:solidFill>
              <a:srgbClr val="456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133088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 則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5528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論壇發文（中性 121）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市場真的在跌、論壇真的變吵——但多數發文其實中性，不能說「大家一致看空」。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原型畫面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已可運行的 2D 小屋原型</a:t>
            </a:r>
            <a:endParaRPr lang="en-US" sz="3200" dirty="0"/>
          </a:p>
        </p:txBody>
      </p:sp>
      <p:pic>
        <p:nvPicPr>
          <p:cNvPr id="4" name="Image 0" descr="/sessions/clever-laughing-ptolemy/mnt/outputs/deck/assets/tea-room-rain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257800" cy="4251960"/>
          </a:xfrm>
          <a:prstGeom prst="rect">
            <a:avLst/>
          </a:prstGeom>
        </p:spPr>
      </p:pic>
      <p:pic>
        <p:nvPicPr>
          <p:cNvPr id="5" name="Image 1" descr="/sessions/clever-laughing-ptolemy/mnt/outputs/deck/assets/dialogue-c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600200"/>
            <a:ext cx="4892040" cy="4251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98932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固定鏡位 2D 插畫小屋，晴／雨隨市場狀態切換　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會呼吸、眨眼、移動的小伴，非裝飾性動畫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89320" y="59893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對話卡引導零文字輸入的互動選項，2–4 個選項即可完成一次探索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格 Storyboard：從焦慮到安心離開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25880" y="216712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7" name="Image 0" descr="/sessions/clever-laughing-ptolemy/mnt/outputs/deck/asse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250" y="2246498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862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抵達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2278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先被接住，不先看跌幅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9659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931920" y="216712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3" name="Image 1" descr="/sessions/clever-laughing-ptolemy/mnt/outputs/deck/assets/icons/teap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290" y="2246498"/>
            <a:ext cx="408188" cy="4081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2862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安定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291840" y="32278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關窗、遞熱飲，先安定再分析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760720" y="19659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17" name="Text 13"/>
          <p:cNvSpPr/>
          <p:nvPr/>
        </p:nvSpPr>
        <p:spPr>
          <a:xfrm>
            <a:off x="589788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537960" y="216712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9" name="Image 2" descr="/sessions/clever-laughing-ptolemy/mnt/outputs/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30" y="2246498"/>
            <a:ext cx="408188" cy="4081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25312" y="2862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路線回顧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897880" y="32278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想起原本每月投入的計畫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366760" y="196596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23" name="Text 18"/>
          <p:cNvSpPr/>
          <p:nvPr/>
        </p:nvSpPr>
        <p:spPr>
          <a:xfrm>
            <a:off x="850392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144000" y="216712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25" name="Image 3" descr="/sessions/clever-laughing-ptolemy/mnt/outputs/deck/assets/icons/rad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370" y="2246498"/>
            <a:ext cx="408188" cy="4081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31352" y="2862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收音機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503920" y="32278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分辨聲量與立場，196 則多數中性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1605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325880" y="436168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31" name="Image 4" descr="/sessions/clever-laughing-ptolemy/mnt/outputs/deck/assets/icons/footpr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250" y="4441058"/>
            <a:ext cx="408188" cy="4081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3232" y="5056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腳印探索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685800" y="5422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法人連續賣超，是線索不是答案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154680" y="41605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35" name="Text 28"/>
          <p:cNvSpPr/>
          <p:nvPr/>
        </p:nvSpPr>
        <p:spPr>
          <a:xfrm>
            <a:off x="329184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3931920" y="436168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37" name="Image 5" descr="/sessions/clever-laughing-ptolemy/mnt/outputs/deck/assets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290" y="4441058"/>
            <a:ext cx="408188" cy="4081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319272" y="5056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時間尺度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3291840" y="5422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一週 -16.9% vs 十年計畫並列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760720" y="41605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41" name="Text 33"/>
          <p:cNvSpPr/>
          <p:nvPr/>
        </p:nvSpPr>
        <p:spPr>
          <a:xfrm>
            <a:off x="589788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6537960" y="436168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43" name="Image 6" descr="/sessions/clever-laughing-ptolemy/mnt/outputs/deck/assets/icons/balan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330" y="4441058"/>
            <a:ext cx="408188" cy="4081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925312" y="5056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反思</a:t>
            </a:r>
            <a:endParaRPr lang="en-US" sz="1350" dirty="0"/>
          </a:p>
        </p:txBody>
      </p:sp>
      <p:sp>
        <p:nvSpPr>
          <p:cNvPr id="45" name="Text 36"/>
          <p:cNvSpPr/>
          <p:nvPr/>
        </p:nvSpPr>
        <p:spPr>
          <a:xfrm>
            <a:off x="5897880" y="5422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四個選項，沒有標準答案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8366760" y="41605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EAF0EA"/>
          </a:solidFill>
          <a:ln/>
        </p:spPr>
      </p:sp>
      <p:sp>
        <p:nvSpPr>
          <p:cNvPr id="47" name="Text 38"/>
          <p:cNvSpPr/>
          <p:nvPr/>
        </p:nvSpPr>
        <p:spPr>
          <a:xfrm>
            <a:off x="850392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7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Shape 39"/>
          <p:cNvSpPr/>
          <p:nvPr/>
        </p:nvSpPr>
        <p:spPr>
          <a:xfrm>
            <a:off x="9144000" y="4361688"/>
            <a:ext cx="566928" cy="566928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49" name="Image 7" descr="/sessions/clever-laughing-ptolemy/mnt/outputs/deck/assets/icons/boo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3370" y="4441058"/>
            <a:ext cx="408188" cy="408188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531352" y="505663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共同日記</a:t>
            </a:r>
            <a:endParaRPr lang="en-US" sz="1350" dirty="0"/>
          </a:p>
        </p:txBody>
      </p:sp>
      <p:sp>
        <p:nvSpPr>
          <p:cNvPr id="51" name="Text 41"/>
          <p:cNvSpPr/>
          <p:nvPr/>
        </p:nvSpPr>
        <p:spPr>
          <a:xfrm>
            <a:off x="8503920" y="542239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寫下事實與感受，安心離開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任何時刻都可以選「今天先到這裡」，直接安心離開，不追加責備。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技術與美術決策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 2D 插畫，不是 3D 灰盒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EAF0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6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決策理由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單人開發、不足一天的可用時間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產品北極星是「溫暖安定」，不是技術展示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398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插畫質感天花板遠高於 3D 灰盒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982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WebGL 相容性與鏡位風險，台上更穩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0566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省下時間換取完整 8 格 Storyboard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669280" cy="4297680"/>
          </a:xfrm>
          <a:prstGeom prst="roundRect">
            <a:avLst>
              <a:gd name="adj" fmla="val 2553"/>
            </a:avLst>
          </a:prstGeom>
          <a:solidFill>
            <a:srgbClr val="24352C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技術棧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514600"/>
            <a:ext cx="502920" cy="50292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14" name="Image 0" descr="/sessions/clever-laughing-ptolemy/mnt/outputs/deck/assets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9769" y="2585009"/>
            <a:ext cx="362102" cy="362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95160" y="2542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Phaser 3 + Vite（等距 2.5D 場景）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3337560"/>
            <a:ext cx="502920" cy="50292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17" name="Image 1" descr="/sessions/clever-laughing-ptolemy/mnt/outputs/deck/assets/icons/pal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769" y="3407969"/>
            <a:ext cx="362102" cy="362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33649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分層 SVG／插畫，transform + opacity 動畫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09360" y="4160520"/>
            <a:ext cx="502920" cy="50292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20" name="Image 2" descr="/sessions/clever-laughing-ptolemy/mnt/outputs/deck/assets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769" y="4230929"/>
            <a:ext cx="362102" cy="362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41879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單一靜態 Demo JSON（2025/04/09・0050）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09360" y="4983480"/>
            <a:ext cx="502920" cy="50292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23" name="Image 3" descr="/sessions/clever-laughing-ptolemy/mnt/outputs/deck/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769" y="5053889"/>
            <a:ext cx="362102" cy="3621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95160" y="50109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無後端、無登入、Demo 中不呼叫 LLM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藏在陪伴背後，不是聊天室主角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介面不是聊天室，互動不是 Prompt，核心流程可在零文字輸入下完成。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0EA"/>
          </a:solidFill>
          <a:ln/>
        </p:spPr>
      </p:sp>
      <p:sp>
        <p:nvSpPr>
          <p:cNvPr id="6" name="Shape 4"/>
          <p:cNvSpPr/>
          <p:nvPr/>
        </p:nvSpPr>
        <p:spPr>
          <a:xfrm>
            <a:off x="1947672" y="233172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7" name="Image 0" descr="/sessions/clever-laughing-ptolemy/mnt/outputs/deck/assets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43413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翻譯者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把已確認的資料事實，轉成適合此刻的一句台詞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60520" y="21031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0EA"/>
          </a:solidFill>
          <a:ln/>
        </p:spPr>
      </p:sp>
      <p:sp>
        <p:nvSpPr>
          <p:cNvPr id="11" name="Shape 8"/>
          <p:cNvSpPr/>
          <p:nvPr/>
        </p:nvSpPr>
        <p:spPr>
          <a:xfrm>
            <a:off x="5559552" y="233172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2" name="Image 1" descr="/sessions/clever-laughing-ptolemy/mnt/outputs/deck/assets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965" y="243413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記憶整理者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89120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把使用者的選擇整理成可確認的共同日記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1031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0EA"/>
          </a:solidFill>
          <a:ln/>
        </p:spPr>
      </p:sp>
      <p:sp>
        <p:nvSpPr>
          <p:cNvPr id="16" name="Shape 12"/>
          <p:cNvSpPr/>
          <p:nvPr/>
        </p:nvSpPr>
        <p:spPr>
          <a:xfrm>
            <a:off x="9171432" y="2331720"/>
            <a:ext cx="731520" cy="731520"/>
          </a:xfrm>
          <a:prstGeom prst="ellipse">
            <a:avLst/>
          </a:prstGeom>
          <a:solidFill>
            <a:srgbClr val="45604F"/>
          </a:solidFill>
          <a:ln/>
        </p:spPr>
      </p:sp>
      <p:pic>
        <p:nvPicPr>
          <p:cNvPr id="17" name="Image 2" descr="/sessions/clever-laughing-ptolemy/mnt/outputs/deck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845" y="243413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回顧敘事者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01000" y="3584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把一段時間的互動整理成簡短回顧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24352C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Zero-input 主流程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" y="51663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打開小屋 → 小伴察覺市場狀態 → 點一下 → 探索一件事 → 做一個選擇 → 整理共同記憶 → 安心離開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範圍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先驗證陪伴體驗，不做完整投資平台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EAF0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45604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383280" cy="320040"/>
          </a:xfrm>
          <a:prstGeom prst="rect">
            <a:avLst/>
          </a:prstGeom>
          <a:solidFill>
            <a:srgbClr val="45604F"/>
          </a:solidFill>
          <a:ln/>
        </p:spPr>
      </p:sp>
      <p:pic>
        <p:nvPicPr>
          <p:cNvPr id="7" name="Image 0" descr="/sessions/clever-laughing-ptolemy/mnt/outputs/deck/assets/icons/p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562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01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必做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一隻股伴角色、一個可互動的房間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40156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法人大腳印 + 論壇收音機互動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197096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三方偵探板整合事件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992624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一份可累積的共同日記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60520" y="16916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EAF0EA"/>
          </a:solidFill>
          <a:ln/>
        </p:spPr>
      </p:sp>
      <p:sp>
        <p:nvSpPr>
          <p:cNvPr id="14" name="Shape 11"/>
          <p:cNvSpPr/>
          <p:nvPr/>
        </p:nvSpPr>
        <p:spPr>
          <a:xfrm>
            <a:off x="4160520" y="169164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A97D3F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2057400"/>
            <a:ext cx="3383280" cy="320040"/>
          </a:xfrm>
          <a:prstGeom prst="rect">
            <a:avLst/>
          </a:prstGeom>
          <a:solidFill>
            <a:srgbClr val="A97D3F"/>
          </a:solidFill>
          <a:ln/>
        </p:spPr>
      </p:sp>
      <p:pic>
        <p:nvPicPr>
          <p:cNvPr id="16" name="Image 1" descr="/sessions/clever-laughing-ptolemy/mnt/outputs/deck/assets/icons/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85623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46320" y="1801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可簡化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434840" y="26060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價格山、股息果樹先靜態呈現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34840" y="340156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股伴狀態限於呼吸、眨眼、耳罩等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34840" y="4197096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使用者狀態先存瀏覽器，不需帳號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772400" y="1691640"/>
            <a:ext cx="3383280" cy="4297680"/>
          </a:xfrm>
          <a:prstGeom prst="roundRect">
            <a:avLst>
              <a:gd name="adj" fmla="val 2703"/>
            </a:avLst>
          </a:prstGeom>
          <a:solidFill>
            <a:srgbClr val="EAF0EA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0" y="169164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8A8F8C"/>
          </a:solidFill>
          <a:ln/>
        </p:spPr>
      </p:sp>
      <p:sp>
        <p:nvSpPr>
          <p:cNvPr id="23" name="Shape 19"/>
          <p:cNvSpPr/>
          <p:nvPr/>
        </p:nvSpPr>
        <p:spPr>
          <a:xfrm>
            <a:off x="7772400" y="2057400"/>
            <a:ext cx="3383280" cy="320040"/>
          </a:xfrm>
          <a:prstGeom prst="rect">
            <a:avLst/>
          </a:prstGeom>
          <a:solidFill>
            <a:srgbClr val="8A8F8C"/>
          </a:solidFill>
          <a:ln/>
        </p:spPr>
      </p:sp>
      <p:pic>
        <p:nvPicPr>
          <p:cNvPr id="24" name="Image 2" descr="/sessions/clever-laughing-ptolemy/mnt/outputs/deck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85623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58200" y="1801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暫不做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046720" y="26060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即時行情、券商與交易串接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3401568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真實持倉與損益、買賣建議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046720" y="4197096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完整回測平台、多人社群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體驗語言原則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同理 → 事實 → 邀請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可愛視覺不等於幼兒化語言：使用者是投資新手，不是小孩。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BF4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D6B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避免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「你應該冷靜。」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021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「不要恐慌。」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153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「你又偏離計畫了。」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28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「你的紀律分數下降。」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201168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EAF0E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240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6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改用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72200" y="2788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「我們可以先慢一點。」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35021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「要不要一起記下原因？」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2153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「計畫可以改變，我們只需要知道為什麼。」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492861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i="1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「你今天不想看數據也沒關係。」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成功衡量與下一步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先驗證體驗，而非真實留存率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成功衡量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使用者能否在 30 秒內完成一次探索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能否說出腳印、聲音、價格位置各代表什麼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112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是否願意留下觀察或感受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6966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是否把股伴視為陪伴者，而非裝飾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下一步優先順序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2148840"/>
            <a:ext cx="292608" cy="292608"/>
          </a:xfrm>
          <a:prstGeom prst="ellipse">
            <a:avLst/>
          </a:prstGeom>
          <a:solidFill>
            <a:srgbClr val="4560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2107692"/>
            <a:ext cx="2926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 Storyboard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2715768"/>
            <a:ext cx="292608" cy="292608"/>
          </a:xfrm>
          <a:prstGeom prst="ellipse">
            <a:avLst/>
          </a:prstGeom>
          <a:solidFill>
            <a:srgbClr val="4560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674620"/>
            <a:ext cx="2926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2512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trike="sngStrike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統一小屋美術與行動版層次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3282696"/>
            <a:ext cx="292608" cy="292608"/>
          </a:xfrm>
          <a:prstGeom prst="ellipse">
            <a:avLst/>
          </a:prstGeom>
          <a:solidFill>
            <a:srgbClr val="D8E2DA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32186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股伴語言指南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3849624"/>
            <a:ext cx="292608" cy="292608"/>
          </a:xfrm>
          <a:prstGeom prst="ellipse">
            <a:avLst/>
          </a:prstGeom>
          <a:solidFill>
            <a:srgbClr val="D8E2DA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7856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事件導演與「為什麼看到」規則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4416552"/>
            <a:ext cx="292608" cy="292608"/>
          </a:xfrm>
          <a:prstGeom prst="ellipse">
            <a:avLst/>
          </a:prstGeom>
          <a:solidFill>
            <a:srgbClr val="D8E2DA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435254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法人大腳印、使用者小腳印與共同地圖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0" y="4983480"/>
            <a:ext cx="292608" cy="292608"/>
          </a:xfrm>
          <a:prstGeom prst="ellipse">
            <a:avLst/>
          </a:prstGeom>
          <a:solidFill>
            <a:srgbClr val="D8E2DA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91947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共同日記與透明記憶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5550408"/>
            <a:ext cx="292608" cy="292608"/>
          </a:xfrm>
          <a:prstGeom prst="ellipse">
            <a:avLst/>
          </a:prstGeom>
          <a:solidFill>
            <a:srgbClr val="D8E2DA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5486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五人可用性與感受測試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35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560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A97D3F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822960" cy="822960"/>
          </a:xfrm>
          <a:prstGeom prst="ellipse">
            <a:avLst/>
          </a:prstGeom>
          <a:solidFill>
            <a:srgbClr val="C99A5B"/>
          </a:solidFill>
          <a:ln/>
        </p:spPr>
      </p:sp>
      <p:pic>
        <p:nvPicPr>
          <p:cNvPr id="5" name="Image 0" descr="/sessions/clever-laughing-ptolemy/mnt/outputs/deck/assets/icons/p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2742" y="148681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當市場很吵，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股伴陪你想起自己為什麼開始。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 — 歡迎提問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84648" y="4754880"/>
            <a:ext cx="1828800" cy="0"/>
          </a:xfrm>
          <a:prstGeom prst="line">
            <a:avLst/>
          </a:prstGeom>
          <a:noFill/>
          <a:ln w="19050">
            <a:solidFill>
              <a:srgbClr val="4560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特別感謝組員 Grok、Claude、ChatGPT——真正動手做事的是他們，我負責報告。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股伴 StockMate  ·  AWS AI Hackathon × CMoney 資料黑客松  ·  Amikai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股伴 StockMate</dc:title>
  <dc:subject>PptxGenJS Presentation</dc:subject>
  <dc:creator>Amikai</dc:creator>
  <cp:lastModifiedBy>Amikai</cp:lastModifiedBy>
  <cp:revision>1</cp:revision>
  <dcterms:created xsi:type="dcterms:W3CDTF">2026-07-16T00:05:21Z</dcterms:created>
  <dcterms:modified xsi:type="dcterms:W3CDTF">2026-07-16T00:05:21Z</dcterms:modified>
</cp:coreProperties>
</file>